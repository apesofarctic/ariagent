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5D0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35D0BA"/>
                </a:solidFill>
                <a:latin typeface="Calibri"/>
              </a:rPr>
              <a:t>ARIAGENT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972800" cy="1463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4600" b="1">
                <a:solidFill>
                  <a:srgbClr val="F4F6F8"/>
                </a:solidFill>
                <a:latin typeface="Calibri"/>
              </a:rPr>
              <a:t>The proactive financial companion</a:t>
            </a:r>
          </a:p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4600" b="1">
                <a:solidFill>
                  <a:srgbClr val="F4F6F8"/>
                </a:solidFill>
                <a:latin typeface="Calibri"/>
              </a:rPr>
              <a:t>that Protects, Grows, and Guides.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611880"/>
            <a:ext cx="1051560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9AA7B4"/>
                </a:solidFill>
                <a:latin typeface="Calibri"/>
              </a:rPr>
              <a:t>Most banking AI waits for you to ask. Ariagent watches your financial life and acts first — and shows you exactly why, every time.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617720"/>
            <a:ext cx="946403" cy="310896"/>
          </a:xfrm>
          <a:prstGeom prst="roundRect">
            <a:avLst/>
          </a:prstGeom>
          <a:noFill/>
          <a:ln w="15875">
            <a:solidFill>
              <a:srgbClr val="35D0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4617720"/>
            <a:ext cx="946403" cy="310896"/>
          </a:xfrm>
          <a:prstGeom prst="rect">
            <a:avLst/>
          </a:prstGeom>
          <a:noFill/>
        </p:spPr>
        <p:txBody>
          <a:bodyPr wrap="non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35D0BA"/>
                </a:solidFill>
                <a:latin typeface="Calibri"/>
              </a:rPr>
              <a:t>PROTECT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723643" y="4617720"/>
            <a:ext cx="658368" cy="310896"/>
          </a:xfrm>
          <a:prstGeom prst="roundRect">
            <a:avLst/>
          </a:prstGeom>
          <a:noFill/>
          <a:ln w="15875">
            <a:solidFill>
              <a:srgbClr val="F2B1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23643" y="4617720"/>
            <a:ext cx="658368" cy="310896"/>
          </a:xfrm>
          <a:prstGeom prst="rect">
            <a:avLst/>
          </a:prstGeom>
          <a:noFill/>
        </p:spPr>
        <p:txBody>
          <a:bodyPr wrap="non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F2B147"/>
                </a:solidFill>
                <a:latin typeface="Calibri"/>
              </a:rPr>
              <a:t>GROW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19171" y="4617720"/>
            <a:ext cx="754380" cy="310896"/>
          </a:xfrm>
          <a:prstGeom prst="roundRect">
            <a:avLst/>
          </a:prstGeom>
          <a:noFill/>
          <a:ln w="15875">
            <a:solidFill>
              <a:srgbClr val="9B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19171" y="4617720"/>
            <a:ext cx="754380" cy="310896"/>
          </a:xfrm>
          <a:prstGeom prst="rect">
            <a:avLst/>
          </a:prstGeom>
          <a:noFill/>
        </p:spPr>
        <p:txBody>
          <a:bodyPr wrap="non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9B8CFF"/>
                </a:solidFill>
                <a:latin typeface="Calibri"/>
              </a:rPr>
              <a:t>GUIDE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5440680"/>
            <a:ext cx="10881360" cy="17780"/>
          </a:xfrm>
          <a:prstGeom prst="rect">
            <a:avLst/>
          </a:prstGeom>
          <a:solidFill>
            <a:srgbClr val="2A36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5623560"/>
            <a:ext cx="1097280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F4F6F8"/>
                </a:solidFill>
                <a:latin typeface="Calibri"/>
              </a:rPr>
              <a:t>Theme: Digital Engagement (Problem Statement #3)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9AA7B4"/>
                </a:solidFill>
                <a:latin typeface="Calibri"/>
              </a:rPr>
              <a:t>Project: Ariagent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35D0BA"/>
                </a:solidFill>
                <a:latin typeface="Calibr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F4F6F8"/>
                </a:solidFill>
                <a:latin typeface="Calibri"/>
              </a:rPr>
              <a:t>Digital banking engagement is reactive — and shallow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78992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500" b="0">
                <a:solidFill>
                  <a:srgbClr val="9AA7B4"/>
                </a:solidFill>
                <a:latin typeface="Calibri"/>
              </a:rPr>
              <a:t>Banks spend heavily on apps, yet the app is a destination the customer must choose to visit — and when they do, it only answers questions they already knew to ask.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514600"/>
            <a:ext cx="3502152" cy="2286000"/>
          </a:xfrm>
          <a:prstGeom prst="roundRect">
            <a:avLst/>
          </a:prstGeom>
          <a:solidFill>
            <a:srgbClr val="172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2514600"/>
            <a:ext cx="3502152" cy="109728"/>
          </a:xfrm>
          <a:prstGeom prst="roundRect">
            <a:avLst/>
          </a:prstGeom>
          <a:solidFill>
            <a:srgbClr val="35D0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926080"/>
            <a:ext cx="2953512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>
                <a:solidFill>
                  <a:srgbClr val="F4F6F8"/>
                </a:solidFill>
                <a:latin typeface="Calibri"/>
              </a:rPr>
              <a:t>Harm goes uncaught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566160"/>
            <a:ext cx="2953512" cy="10972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350" b="0">
                <a:solidFill>
                  <a:srgbClr val="9AA7B4"/>
                </a:solidFill>
                <a:latin typeface="Calibri"/>
              </a:rPr>
              <a:t>Overdrafts, forgotten subscriptions and fraud are noticed after the money is gone.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5112" y="2514600"/>
            <a:ext cx="3502152" cy="2286000"/>
          </a:xfrm>
          <a:prstGeom prst="roundRect">
            <a:avLst/>
          </a:prstGeom>
          <a:solidFill>
            <a:srgbClr val="172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25112" y="2514600"/>
            <a:ext cx="3502152" cy="109728"/>
          </a:xfrm>
          <a:prstGeom prst="roundRect">
            <a:avLst/>
          </a:prstGeom>
          <a:solidFill>
            <a:srgbClr val="F2B1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9432" y="2926080"/>
            <a:ext cx="2953512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>
                <a:solidFill>
                  <a:srgbClr val="F4F6F8"/>
                </a:solidFill>
                <a:latin typeface="Calibri"/>
              </a:rPr>
              <a:t>Opportunity is missed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9432" y="3566160"/>
            <a:ext cx="2953512" cy="10972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350" b="0">
                <a:solidFill>
                  <a:srgbClr val="9AA7B4"/>
                </a:solidFill>
                <a:latin typeface="Calibri"/>
              </a:rPr>
              <a:t>Idle balances and income changes sit unaddressed; the customer never gets ahead.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10144" y="2514600"/>
            <a:ext cx="3502152" cy="2286000"/>
          </a:xfrm>
          <a:prstGeom prst="roundRect">
            <a:avLst/>
          </a:prstGeom>
          <a:solidFill>
            <a:srgbClr val="172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010144" y="2514600"/>
            <a:ext cx="3502152" cy="109728"/>
          </a:xfrm>
          <a:prstGeom prst="roundRect">
            <a:avLst/>
          </a:prstGeom>
          <a:solidFill>
            <a:srgbClr val="9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84464" y="2926080"/>
            <a:ext cx="2953512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>
                <a:solidFill>
                  <a:srgbClr val="F4F6F8"/>
                </a:solidFill>
                <a:latin typeface="Calibri"/>
              </a:rPr>
              <a:t>Big moments unsupported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84464" y="3566160"/>
            <a:ext cx="2953512" cy="10972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350" b="0">
                <a:solidFill>
                  <a:srgbClr val="9AA7B4"/>
                </a:solidFill>
                <a:latin typeface="Calibri"/>
              </a:rPr>
              <a:t>A baby, a new home, a job change — the bank is silent because no one filled a form.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166360"/>
            <a:ext cx="1078992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9AA7B4"/>
                </a:solidFill>
                <a:latin typeface="Calibri"/>
              </a:rPr>
              <a:t>Generic push notifications don't fix this — they're untimed, impersonal, and quickly muted. </a:t>
            </a:r>
            <a:r>
              <a:rPr sz="1500" b="1">
                <a:solidFill>
                  <a:srgbClr val="35D0BA"/>
                </a:solidFill>
                <a:latin typeface="Calibri"/>
              </a:rPr>
              <a:t>The missing capability is judgment.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9AA7B4"/>
                </a:solidFill>
                <a:latin typeface="Calibri"/>
              </a:rPr>
              <a:t>Ariagent — Proactive Agentic Banking  ·  Digital Engagement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6419088"/>
            <a:ext cx="100584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9AA7B4"/>
                </a:solidFill>
                <a:latin typeface="Calibr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35D0BA"/>
                </a:solidFill>
                <a:latin typeface="Calibri"/>
              </a:rPr>
              <a:t>THE IDEA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F4F6F8"/>
                </a:solidFill>
                <a:latin typeface="Calibri"/>
              </a:rPr>
              <a:t>Ariagent — one agent engine, three engagement modes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72768"/>
            <a:ext cx="1078992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9AA7B4"/>
                </a:solidFill>
                <a:latin typeface="Calibri"/>
              </a:rPr>
              <a:t>A continuous agentic loop — </a:t>
            </a:r>
            <a:r>
              <a:rPr sz="1500" b="1">
                <a:solidFill>
                  <a:srgbClr val="F4F6F8"/>
                </a:solidFill>
                <a:latin typeface="Calibri"/>
              </a:rPr>
              <a:t>Sense → Reason → Decide → Act → Explain</a:t>
            </a:r>
            <a:r>
              <a:rPr sz="1500" b="0">
                <a:solidFill>
                  <a:srgbClr val="9AA7B4"/>
                </a:solidFill>
                <a:latin typeface="Calibri"/>
              </a:rPr>
              <a:t> — run over three classes of signal.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286000"/>
            <a:ext cx="3502152" cy="2834640"/>
          </a:xfrm>
          <a:prstGeom prst="roundRect">
            <a:avLst/>
          </a:prstGeom>
          <a:solidFill>
            <a:srgbClr val="172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" y="2560320"/>
            <a:ext cx="946403" cy="310896"/>
          </a:xfrm>
          <a:prstGeom prst="roundRect">
            <a:avLst/>
          </a:prstGeom>
          <a:noFill/>
          <a:ln w="15875">
            <a:solidFill>
              <a:srgbClr val="35D0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560320"/>
            <a:ext cx="946403" cy="310896"/>
          </a:xfrm>
          <a:prstGeom prst="rect">
            <a:avLst/>
          </a:prstGeom>
          <a:noFill/>
        </p:spPr>
        <p:txBody>
          <a:bodyPr wrap="non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35D0BA"/>
                </a:solidFill>
                <a:latin typeface="Calibri"/>
              </a:rPr>
              <a:t>PROTECT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063240"/>
            <a:ext cx="2953512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9AA7B4"/>
                </a:solidFill>
                <a:latin typeface="Calibri"/>
              </a:rPr>
              <a:t>Detects: Threats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474720"/>
            <a:ext cx="2953512" cy="10058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350" b="0">
                <a:solidFill>
                  <a:srgbClr val="F4F6F8"/>
                </a:solidFill>
                <a:latin typeface="Calibri"/>
              </a:rPr>
              <a:t>Forecasts overdrafts, catches duplicate subscriptions &amp; fraud — reaches out before harm.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4526280"/>
            <a:ext cx="2953512" cy="12700"/>
          </a:xfrm>
          <a:prstGeom prst="rect">
            <a:avLst/>
          </a:prstGeom>
          <a:solidFill>
            <a:srgbClr val="2A36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617720"/>
            <a:ext cx="2953512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50" b="0">
                <a:solidFill>
                  <a:srgbClr val="35D0BA"/>
                </a:solidFill>
                <a:latin typeface="Calibri"/>
              </a:rPr>
              <a:t>“Your rent debits before your salary lands — shift it?”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25112" y="2286000"/>
            <a:ext cx="3502152" cy="2834640"/>
          </a:xfrm>
          <a:prstGeom prst="roundRect">
            <a:avLst/>
          </a:prstGeom>
          <a:solidFill>
            <a:srgbClr val="172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99432" y="2560320"/>
            <a:ext cx="658368" cy="310896"/>
          </a:xfrm>
          <a:prstGeom prst="roundRect">
            <a:avLst/>
          </a:prstGeom>
          <a:noFill/>
          <a:ln w="15875">
            <a:solidFill>
              <a:srgbClr val="F2B1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99432" y="2560320"/>
            <a:ext cx="658368" cy="310896"/>
          </a:xfrm>
          <a:prstGeom prst="rect">
            <a:avLst/>
          </a:prstGeom>
          <a:noFill/>
        </p:spPr>
        <p:txBody>
          <a:bodyPr wrap="non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F2B147"/>
                </a:solidFill>
                <a:latin typeface="Calibri"/>
              </a:rPr>
              <a:t>GROW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9432" y="3063240"/>
            <a:ext cx="2953512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9AA7B4"/>
                </a:solidFill>
                <a:latin typeface="Calibri"/>
              </a:rPr>
              <a:t>Detects: Opportunities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99432" y="3474720"/>
            <a:ext cx="2953512" cy="10058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350" b="0">
                <a:solidFill>
                  <a:srgbClr val="F4F6F8"/>
                </a:solidFill>
                <a:latin typeface="Calibri"/>
              </a:rPr>
              <a:t>Detects idle cash and income changes — puts money to work.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99432" y="4526280"/>
            <a:ext cx="2953512" cy="12700"/>
          </a:xfrm>
          <a:prstGeom prst="rect">
            <a:avLst/>
          </a:prstGeom>
          <a:solidFill>
            <a:srgbClr val="2A36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99432" y="4617720"/>
            <a:ext cx="2953512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50" b="0">
                <a:solidFill>
                  <a:srgbClr val="F2B147"/>
                </a:solidFill>
                <a:latin typeface="Calibri"/>
              </a:rPr>
              <a:t>“Your salary rose ₹15k — auto-invest ₹5k/month?”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10144" y="2286000"/>
            <a:ext cx="3502152" cy="2834640"/>
          </a:xfrm>
          <a:prstGeom prst="roundRect">
            <a:avLst/>
          </a:prstGeom>
          <a:solidFill>
            <a:srgbClr val="172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284464" y="2560320"/>
            <a:ext cx="754380" cy="310896"/>
          </a:xfrm>
          <a:prstGeom prst="roundRect">
            <a:avLst/>
          </a:prstGeom>
          <a:noFill/>
          <a:ln w="15875">
            <a:solidFill>
              <a:srgbClr val="9B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84464" y="2560320"/>
            <a:ext cx="754380" cy="310896"/>
          </a:xfrm>
          <a:prstGeom prst="rect">
            <a:avLst/>
          </a:prstGeom>
          <a:noFill/>
        </p:spPr>
        <p:txBody>
          <a:bodyPr wrap="non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9B8CFF"/>
                </a:solidFill>
                <a:latin typeface="Calibri"/>
              </a:rPr>
              <a:t>GUIDE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84464" y="3063240"/>
            <a:ext cx="2953512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9AA7B4"/>
                </a:solidFill>
                <a:latin typeface="Calibri"/>
              </a:rPr>
              <a:t>Detects: Life events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84464" y="3474720"/>
            <a:ext cx="2953512" cy="10058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350" b="0">
                <a:solidFill>
                  <a:srgbClr val="F4F6F8"/>
                </a:solidFill>
                <a:latin typeface="Calibri"/>
              </a:rPr>
              <a:t>Recognises life events from spending — orchestrates multi-step journeys.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84464" y="4526280"/>
            <a:ext cx="2953512" cy="12700"/>
          </a:xfrm>
          <a:prstGeom prst="rect">
            <a:avLst/>
          </a:prstGeom>
          <a:solidFill>
            <a:srgbClr val="2A36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84464" y="4617720"/>
            <a:ext cx="2953512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50" b="0">
                <a:solidFill>
                  <a:srgbClr val="9B8CFF"/>
                </a:solidFill>
                <a:latin typeface="Calibri"/>
              </a:rPr>
              <a:t>“A baby is coming — let's set up cover + savings, step by step.”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9AA7B4"/>
                </a:solidFill>
                <a:latin typeface="Calibri"/>
              </a:rPr>
              <a:t>Ariagent — Proactive Agentic Banking  ·  Digital Engagement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07040" y="6419088"/>
            <a:ext cx="100584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9AA7B4"/>
                </a:solidFill>
                <a:latin typeface="Calibr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35D0BA"/>
                </a:solidFill>
                <a:latin typeface="Calibri"/>
              </a:rPr>
              <a:t>WHY IT'S GENUINELY AGENTIC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F4F6F8"/>
                </a:solidFill>
                <a:latin typeface="Calibri"/>
              </a:rPr>
              <a:t>Not a chatbot. Not a rules engine.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37360"/>
            <a:ext cx="6766560" cy="4114800"/>
          </a:xfrm>
          <a:prstGeom prst="roundRect">
            <a:avLst/>
          </a:prstGeom>
          <a:solidFill>
            <a:srgbClr val="172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0120" y="2212848"/>
            <a:ext cx="109728" cy="109728"/>
          </a:xfrm>
          <a:prstGeom prst="roundRect">
            <a:avLst/>
          </a:prstGeom>
          <a:solidFill>
            <a:srgbClr val="35D0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16152" y="2148840"/>
            <a:ext cx="621792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F4F6F8"/>
                </a:solidFill>
                <a:latin typeface="Calibri"/>
              </a:rPr>
              <a:t>Autonomous &amp; proactive</a:t>
            </a:r>
            <a:r>
              <a:rPr sz="1500" b="0">
                <a:solidFill>
                  <a:srgbClr val="9AA7B4"/>
                </a:solidFill>
                <a:latin typeface="Calibri"/>
              </a:rPr>
              <a:t> — It initiates — the customer doesn't. Engagement is a loop, not a notification feed.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3447288"/>
            <a:ext cx="109728" cy="109728"/>
          </a:xfrm>
          <a:prstGeom prst="roundRect">
            <a:avLst/>
          </a:prstGeom>
          <a:solidFill>
            <a:srgbClr val="35D0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16152" y="3383280"/>
            <a:ext cx="621792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F4F6F8"/>
                </a:solidFill>
                <a:latin typeface="Calibri"/>
              </a:rPr>
              <a:t>Reasons &amp; prioritises</a:t>
            </a:r>
            <a:r>
              <a:rPr sz="1500" b="0">
                <a:solidFill>
                  <a:srgbClr val="9AA7B4"/>
                </a:solidFill>
                <a:latin typeface="Calibri"/>
              </a:rPr>
              <a:t> — The Orchestrator decides which signal deserves attention now, holds back low-value nudges, and interleaves slow journeys with urgent alerts. It will stay silent to avoid spam — that judgment is the product.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0120" y="4681728"/>
            <a:ext cx="109728" cy="109728"/>
          </a:xfrm>
          <a:prstGeom prst="roundRect">
            <a:avLst/>
          </a:prstGeom>
          <a:solidFill>
            <a:srgbClr val="35D0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16152" y="4617720"/>
            <a:ext cx="621792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F4F6F8"/>
                </a:solidFill>
                <a:latin typeface="Calibri"/>
              </a:rPr>
              <a:t>Accountable</a:t>
            </a:r>
            <a:r>
              <a:rPr sz="1500" b="0">
                <a:solidFill>
                  <a:srgbClr val="9AA7B4"/>
                </a:solidFill>
                <a:latin typeface="Calibri"/>
              </a:rPr>
              <a:t> — Every recommendation carries a visible reasoning trace, and every action is suitability-checked, consented, reversible, and audited.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80960" y="1737360"/>
            <a:ext cx="3840480" cy="4114800"/>
          </a:xfrm>
          <a:prstGeom prst="roundRect">
            <a:avLst/>
          </a:prstGeom>
          <a:solidFill>
            <a:srgbClr val="0E141B"/>
          </a:solidFill>
          <a:ln w="15240">
            <a:solidFill>
              <a:srgbClr val="2A36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0" y="1920240"/>
            <a:ext cx="384048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9AA7B4"/>
                </a:solidFill>
                <a:latin typeface="Calibri"/>
              </a:rPr>
              <a:t>THE LOOP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2377440"/>
            <a:ext cx="3108960" cy="530352"/>
          </a:xfrm>
          <a:prstGeom prst="roundRect">
            <a:avLst/>
          </a:prstGeom>
          <a:solidFill>
            <a:srgbClr val="172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20" y="2377440"/>
            <a:ext cx="1828800" cy="53035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F4F6F8"/>
                </a:solidFill>
                <a:latin typeface="Calibri"/>
              </a:rPr>
              <a:t>Sense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18320" y="2377440"/>
            <a:ext cx="1737360" cy="53035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35D0BA"/>
                </a:solidFill>
                <a:latin typeface="Calibri"/>
              </a:rPr>
              <a:t>Sentinel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3054096"/>
            <a:ext cx="3108960" cy="530352"/>
          </a:xfrm>
          <a:prstGeom prst="roundRect">
            <a:avLst/>
          </a:prstGeom>
          <a:solidFill>
            <a:srgbClr val="172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75320" y="3054096"/>
            <a:ext cx="1828800" cy="53035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F4F6F8"/>
                </a:solidFill>
                <a:latin typeface="Calibri"/>
              </a:rPr>
              <a:t>Reason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0" y="3054096"/>
            <a:ext cx="1737360" cy="53035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35D0BA"/>
                </a:solidFill>
                <a:latin typeface="Calibri"/>
              </a:rPr>
              <a:t>Insight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6720" y="3730752"/>
            <a:ext cx="3108960" cy="530352"/>
          </a:xfrm>
          <a:prstGeom prst="roundRect">
            <a:avLst/>
          </a:prstGeom>
          <a:solidFill>
            <a:srgbClr val="172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5320" y="3730752"/>
            <a:ext cx="1828800" cy="53035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F4F6F8"/>
                </a:solidFill>
                <a:latin typeface="Calibri"/>
              </a:rPr>
              <a:t>Decide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18320" y="3730752"/>
            <a:ext cx="1737360" cy="53035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35D0BA"/>
                </a:solidFill>
                <a:latin typeface="Calibri"/>
              </a:rPr>
              <a:t>Orchestrator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46720" y="4407408"/>
            <a:ext cx="3108960" cy="530352"/>
          </a:xfrm>
          <a:prstGeom prst="roundRect">
            <a:avLst/>
          </a:prstGeom>
          <a:solidFill>
            <a:srgbClr val="172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75320" y="4407408"/>
            <a:ext cx="1828800" cy="53035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F4F6F8"/>
                </a:solidFill>
                <a:latin typeface="Calibri"/>
              </a:rPr>
              <a:t>Act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18320" y="4407408"/>
            <a:ext cx="1737360" cy="53035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35D0BA"/>
                </a:solidFill>
                <a:latin typeface="Calibri"/>
              </a:rPr>
              <a:t>Action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46720" y="5084064"/>
            <a:ext cx="3108960" cy="530352"/>
          </a:xfrm>
          <a:prstGeom prst="roundRect">
            <a:avLst/>
          </a:prstGeom>
          <a:solidFill>
            <a:srgbClr val="172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75320" y="5084064"/>
            <a:ext cx="1828800" cy="53035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F4F6F8"/>
                </a:solidFill>
                <a:latin typeface="Calibri"/>
              </a:rPr>
              <a:t>Explain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18320" y="5084064"/>
            <a:ext cx="1737360" cy="53035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35D0BA"/>
                </a:solidFill>
                <a:latin typeface="Calibri"/>
              </a:rPr>
              <a:t>Engagement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9AA7B4"/>
                </a:solidFill>
                <a:latin typeface="Calibri"/>
              </a:rPr>
              <a:t>Ariagent — Proactive Agentic Banking  ·  Digital Engagement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7040" y="6419088"/>
            <a:ext cx="100584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9AA7B4"/>
                </a:solidFill>
                <a:latin typeface="Calibr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35D0BA"/>
                </a:solidFill>
                <a:latin typeface="Calibri"/>
              </a:rPr>
              <a:t>PROCESS FLOW /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F4F6F8"/>
                </a:solidFill>
                <a:latin typeface="Calibri"/>
              </a:rPr>
              <a:t>Five agents, two pluggable libraries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78992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0">
                <a:solidFill>
                  <a:srgbClr val="9AA7B4"/>
                </a:solidFill>
                <a:latin typeface="Calibri"/>
              </a:rPr>
              <a:t>One shared pipeline. Adding a mode = registering more detectors and actions — not a new system.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48840"/>
            <a:ext cx="10881360" cy="603504"/>
          </a:xfrm>
          <a:prstGeom prst="roundRect">
            <a:avLst/>
          </a:prstGeom>
          <a:solidFill>
            <a:srgbClr val="172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2148840"/>
            <a:ext cx="91440" cy="603504"/>
          </a:xfrm>
          <a:prstGeom prst="roundRect">
            <a:avLst/>
          </a:prstGeom>
          <a:solidFill>
            <a:srgbClr val="9AA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48840"/>
            <a:ext cx="2926080" cy="60350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F4F6F8"/>
                </a:solidFill>
                <a:latin typeface="Calibri"/>
              </a:rPr>
              <a:t>SIGNALS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148840"/>
            <a:ext cx="7498079" cy="60350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>
                <a:solidFill>
                  <a:srgbClr val="9AA7B4"/>
                </a:solidFill>
                <a:latin typeface="Calibri"/>
              </a:rPr>
              <a:t>txns · balances · recurring debits · merchants · goals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862072"/>
            <a:ext cx="10881360" cy="603504"/>
          </a:xfrm>
          <a:prstGeom prst="roundRect">
            <a:avLst/>
          </a:prstGeom>
          <a:solidFill>
            <a:srgbClr val="172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2862072"/>
            <a:ext cx="91440" cy="603504"/>
          </a:xfrm>
          <a:prstGeom prst="roundRect">
            <a:avLst/>
          </a:prstGeom>
          <a:solidFill>
            <a:srgbClr val="35D0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862072"/>
            <a:ext cx="2926080" cy="60350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F4F6F8"/>
                </a:solidFill>
                <a:latin typeface="Calibri"/>
              </a:rPr>
              <a:t>SENTINEL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0" y="2862072"/>
            <a:ext cx="7498079" cy="60350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>
                <a:solidFill>
                  <a:srgbClr val="9AA7B4"/>
                </a:solidFill>
                <a:latin typeface="Calibri"/>
              </a:rPr>
              <a:t>Sense — runs detector library across all 3 modes → typed signals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575304"/>
            <a:ext cx="10881360" cy="603504"/>
          </a:xfrm>
          <a:prstGeom prst="roundRect">
            <a:avLst/>
          </a:prstGeom>
          <a:solidFill>
            <a:srgbClr val="172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0080" y="3575304"/>
            <a:ext cx="91440" cy="603504"/>
          </a:xfrm>
          <a:prstGeom prst="roundRect">
            <a:avLst/>
          </a:prstGeom>
          <a:solidFill>
            <a:srgbClr val="35D0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575304"/>
            <a:ext cx="2926080" cy="60350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F4F6F8"/>
                </a:solidFill>
                <a:latin typeface="Calibri"/>
              </a:rPr>
              <a:t>INSIGHT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0" y="3575304"/>
            <a:ext cx="7498079" cy="60350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>
                <a:solidFill>
                  <a:srgbClr val="9AA7B4"/>
                </a:solidFill>
                <a:latin typeface="Calibri"/>
              </a:rPr>
              <a:t>Reason — score relevance · urgency · confidence · intent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288536"/>
            <a:ext cx="10881360" cy="603504"/>
          </a:xfrm>
          <a:prstGeom prst="roundRect">
            <a:avLst/>
          </a:prstGeom>
          <a:solidFill>
            <a:srgbClr val="172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0080" y="4288536"/>
            <a:ext cx="91440" cy="603504"/>
          </a:xfrm>
          <a:prstGeom prst="roundRect">
            <a:avLst/>
          </a:prstGeom>
          <a:solidFill>
            <a:srgbClr val="F2B1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288536"/>
            <a:ext cx="2926080" cy="60350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F4F6F8"/>
                </a:solidFill>
                <a:latin typeface="Calibri"/>
              </a:rPr>
              <a:t>ORCHESTRATOR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0" y="4288536"/>
            <a:ext cx="7498079" cy="60350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>
                <a:solidFill>
                  <a:srgbClr val="9AA7B4"/>
                </a:solidFill>
                <a:latin typeface="Calibri"/>
              </a:rPr>
              <a:t>Decide — prioritise · suppress spam · sequence journeys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5001768"/>
            <a:ext cx="10881360" cy="603504"/>
          </a:xfrm>
          <a:prstGeom prst="roundRect">
            <a:avLst/>
          </a:prstGeom>
          <a:solidFill>
            <a:srgbClr val="172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40080" y="5001768"/>
            <a:ext cx="91440" cy="603504"/>
          </a:xfrm>
          <a:prstGeom prst="roundRect">
            <a:avLst/>
          </a:prstGeom>
          <a:solidFill>
            <a:srgbClr val="9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5001768"/>
            <a:ext cx="2926080" cy="60350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F4F6F8"/>
                </a:solidFill>
                <a:latin typeface="Calibri"/>
              </a:rPr>
              <a:t>ENGAGEMENT + ACTION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40480" y="5001768"/>
            <a:ext cx="7498079" cy="60350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>
                <a:solidFill>
                  <a:srgbClr val="9AA7B4"/>
                </a:solidFill>
                <a:latin typeface="Calibri"/>
              </a:rPr>
              <a:t>Explain the nudge + reasoning trace · execute guarded banking tools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715000"/>
            <a:ext cx="10881360" cy="603504"/>
          </a:xfrm>
          <a:prstGeom prst="roundRect">
            <a:avLst/>
          </a:prstGeom>
          <a:solidFill>
            <a:srgbClr val="172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40080" y="5715000"/>
            <a:ext cx="91440" cy="603504"/>
          </a:xfrm>
          <a:prstGeom prst="round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5715000"/>
            <a:ext cx="2926080" cy="60350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F4F6F8"/>
                </a:solidFill>
                <a:latin typeface="Calibri"/>
              </a:rPr>
              <a:t>GUARDRAILS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40480" y="5715000"/>
            <a:ext cx="7498079" cy="60350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>
                <a:solidFill>
                  <a:srgbClr val="9AA7B4"/>
                </a:solidFill>
                <a:latin typeface="Calibri"/>
              </a:rPr>
              <a:t>suitability · consent · reversibility · full audit log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9AA7B4"/>
                </a:solidFill>
                <a:latin typeface="Calibri"/>
              </a:rPr>
              <a:t>Ariagent — Proactive Agentic Banking  ·  Digital Engagement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07040" y="6419088"/>
            <a:ext cx="100584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9AA7B4"/>
                </a:solidFill>
                <a:latin typeface="Calibri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9B8CFF"/>
                </a:solidFill>
                <a:latin typeface="Calibri"/>
              </a:rPr>
              <a:t>THE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F4F6F8"/>
                </a:solidFill>
                <a:latin typeface="Calibri"/>
              </a:rPr>
              <a:t>Priya, 29 — one 60-day timeline, all three modes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78992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0">
                <a:solidFill>
                  <a:srgbClr val="9AA7B4"/>
                </a:solidFill>
                <a:latin typeface="Calibri"/>
              </a:rPr>
              <a:t>Just got a ₹15k raise — and her spending quietly reveals she's pregnant, before she'd ever fill a form.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10881360" cy="658368"/>
          </a:xfrm>
          <a:prstGeom prst="roundRect">
            <a:avLst/>
          </a:prstGeom>
          <a:solidFill>
            <a:srgbClr val="172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194560"/>
            <a:ext cx="1005840" cy="65836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F4F6F8"/>
                </a:solidFill>
                <a:latin typeface="Calibri"/>
              </a:rPr>
              <a:t>Day 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920240" y="2368296"/>
            <a:ext cx="946403" cy="310896"/>
          </a:xfrm>
          <a:prstGeom prst="roundRect">
            <a:avLst/>
          </a:prstGeom>
          <a:noFill/>
          <a:ln w="15875">
            <a:solidFill>
              <a:srgbClr val="35D0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920240" y="2368296"/>
            <a:ext cx="946403" cy="310896"/>
          </a:xfrm>
          <a:prstGeom prst="rect">
            <a:avLst/>
          </a:prstGeom>
          <a:noFill/>
        </p:spPr>
        <p:txBody>
          <a:bodyPr wrap="non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35D0BA"/>
                </a:solidFill>
                <a:latin typeface="Calibri"/>
              </a:rPr>
              <a:t>PROTECT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2194560"/>
            <a:ext cx="4297680" cy="65836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9AA7B4"/>
                </a:solidFill>
                <a:latin typeface="Calibri"/>
              </a:rPr>
              <a:t>Rent debits before salary lands → overdraft forecast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49640" y="2194560"/>
            <a:ext cx="2743200" cy="65836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35D0BA"/>
                </a:solidFill>
                <a:latin typeface="Calibri"/>
              </a:rPr>
              <a:t>→ Shift the debit date (one tap)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944368"/>
            <a:ext cx="10881360" cy="658368"/>
          </a:xfrm>
          <a:prstGeom prst="roundRect">
            <a:avLst/>
          </a:prstGeom>
          <a:solidFill>
            <a:srgbClr val="172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944368"/>
            <a:ext cx="1005840" cy="65836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F4F6F8"/>
                </a:solidFill>
                <a:latin typeface="Calibri"/>
              </a:rPr>
              <a:t>Day 8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920240" y="3118104"/>
            <a:ext cx="946403" cy="310896"/>
          </a:xfrm>
          <a:prstGeom prst="roundRect">
            <a:avLst/>
          </a:prstGeom>
          <a:noFill/>
          <a:ln w="15875">
            <a:solidFill>
              <a:srgbClr val="35D0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920240" y="3118104"/>
            <a:ext cx="946403" cy="310896"/>
          </a:xfrm>
          <a:prstGeom prst="rect">
            <a:avLst/>
          </a:prstGeom>
          <a:noFill/>
        </p:spPr>
        <p:txBody>
          <a:bodyPr wrap="non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35D0BA"/>
                </a:solidFill>
                <a:latin typeface="Calibri"/>
              </a:rPr>
              <a:t>PROTECT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60520" y="2944368"/>
            <a:ext cx="4297680" cy="65836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9AA7B4"/>
                </a:solidFill>
                <a:latin typeface="Calibri"/>
              </a:rPr>
              <a:t>Two subscriptions for the same service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49640" y="2944368"/>
            <a:ext cx="2743200" cy="65836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35D0BA"/>
                </a:solidFill>
                <a:latin typeface="Calibri"/>
              </a:rPr>
              <a:t>→ Cancel the duplicate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694176"/>
            <a:ext cx="10881360" cy="658368"/>
          </a:xfrm>
          <a:prstGeom prst="roundRect">
            <a:avLst/>
          </a:prstGeom>
          <a:solidFill>
            <a:srgbClr val="172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3694176"/>
            <a:ext cx="1005840" cy="65836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F4F6F8"/>
                </a:solidFill>
                <a:latin typeface="Calibri"/>
              </a:rPr>
              <a:t>Day 14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920240" y="3867912"/>
            <a:ext cx="658368" cy="310896"/>
          </a:xfrm>
          <a:prstGeom prst="roundRect">
            <a:avLst/>
          </a:prstGeom>
          <a:noFill/>
          <a:ln w="15875">
            <a:solidFill>
              <a:srgbClr val="F2B1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920240" y="3867912"/>
            <a:ext cx="658368" cy="310896"/>
          </a:xfrm>
          <a:prstGeom prst="rect">
            <a:avLst/>
          </a:prstGeom>
          <a:noFill/>
        </p:spPr>
        <p:txBody>
          <a:bodyPr wrap="non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F2B147"/>
                </a:solidFill>
                <a:latin typeface="Calibri"/>
              </a:rPr>
              <a:t>GROW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60520" y="3694176"/>
            <a:ext cx="4297680" cy="65836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9AA7B4"/>
                </a:solidFill>
                <a:latin typeface="Calibri"/>
              </a:rPr>
              <a:t>Salary +₹15k for 2 months, surplus idle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49640" y="3694176"/>
            <a:ext cx="2743200" cy="65836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F2B147"/>
                </a:solidFill>
                <a:latin typeface="Calibri"/>
              </a:rPr>
              <a:t>→ Start a ₹5k/mo SIP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4443984"/>
            <a:ext cx="10881360" cy="658368"/>
          </a:xfrm>
          <a:prstGeom prst="roundRect">
            <a:avLst/>
          </a:prstGeom>
          <a:solidFill>
            <a:srgbClr val="172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4443984"/>
            <a:ext cx="1005840" cy="65836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F4F6F8"/>
                </a:solidFill>
                <a:latin typeface="Calibri"/>
              </a:rPr>
              <a:t>Day 22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920240" y="4617720"/>
            <a:ext cx="754380" cy="310896"/>
          </a:xfrm>
          <a:prstGeom prst="roundRect">
            <a:avLst/>
          </a:prstGeom>
          <a:noFill/>
          <a:ln w="15875">
            <a:solidFill>
              <a:srgbClr val="9B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920240" y="4617720"/>
            <a:ext cx="754380" cy="310896"/>
          </a:xfrm>
          <a:prstGeom prst="rect">
            <a:avLst/>
          </a:prstGeom>
          <a:noFill/>
        </p:spPr>
        <p:txBody>
          <a:bodyPr wrap="non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9B8CFF"/>
                </a:solidFill>
                <a:latin typeface="Calibri"/>
              </a:rPr>
              <a:t>GUIDE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60520" y="4443984"/>
            <a:ext cx="4297680" cy="65836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9AA7B4"/>
                </a:solidFill>
                <a:latin typeface="Calibri"/>
              </a:rPr>
              <a:t>Prenatal-clinic pattern → baby life event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49640" y="4443984"/>
            <a:ext cx="2743200" cy="65836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9B8CFF"/>
                </a:solidFill>
                <a:latin typeface="Calibri"/>
              </a:rPr>
              <a:t>→ Launch the “New Baby” journey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5193792"/>
            <a:ext cx="10881360" cy="658368"/>
          </a:xfrm>
          <a:prstGeom prst="roundRect">
            <a:avLst/>
          </a:prstGeom>
          <a:solidFill>
            <a:srgbClr val="172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8680" y="5193792"/>
            <a:ext cx="1005840" cy="65836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F4F6F8"/>
                </a:solidFill>
                <a:latin typeface="Calibri"/>
              </a:rPr>
              <a:t>Day 27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920240" y="5367528"/>
            <a:ext cx="1426464" cy="310896"/>
          </a:xfrm>
          <a:prstGeom prst="roundRect">
            <a:avLst/>
          </a:prstGeom>
          <a:noFill/>
          <a:ln w="15875">
            <a:solidFill>
              <a:srgbClr val="F4F6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920240" y="5367528"/>
            <a:ext cx="1426464" cy="310896"/>
          </a:xfrm>
          <a:prstGeom prst="rect">
            <a:avLst/>
          </a:prstGeom>
          <a:noFill/>
        </p:spPr>
        <p:txBody>
          <a:bodyPr wrap="non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F4F6F8"/>
                </a:solidFill>
                <a:latin typeface="Calibri"/>
              </a:rPr>
              <a:t>ORCHESTRATOR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60520" y="5193792"/>
            <a:ext cx="4297680" cy="65836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9AA7B4"/>
                </a:solidFill>
                <a:latin typeface="Calibri"/>
              </a:rPr>
              <a:t>A low-value Grow nudge is suppressed (2 higher items pending)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49640" y="5193792"/>
            <a:ext cx="2743200" cy="65836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F4F6F8"/>
                </a:solidFill>
                <a:latin typeface="Calibri"/>
              </a:rPr>
              <a:t>→ Nothing fires — shown in the log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9AA7B4"/>
                </a:solidFill>
                <a:latin typeface="Calibri"/>
              </a:rPr>
              <a:t>Ariagent — Proactive Agentic Banking  ·  Digital Engagement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607040" y="6419088"/>
            <a:ext cx="100584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9AA7B4"/>
                </a:solidFill>
                <a:latin typeface="Calibri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35D0BA"/>
                </a:solidFill>
                <a:latin typeface="Calibri"/>
              </a:rPr>
              <a:t>WHAT MAKES IT WIN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F4F6F8"/>
                </a:solidFill>
                <a:latin typeface="Calibri"/>
              </a:rPr>
              <a:t>Judgment you can see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920240"/>
            <a:ext cx="3502152" cy="2743200"/>
          </a:xfrm>
          <a:prstGeom prst="roundRect">
            <a:avLst/>
          </a:prstGeom>
          <a:solidFill>
            <a:srgbClr val="172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3502152" cy="109728"/>
          </a:xfrm>
          <a:prstGeom prst="roundRect">
            <a:avLst/>
          </a:prstGeom>
          <a:solidFill>
            <a:srgbClr val="35D0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331720"/>
            <a:ext cx="2953512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>
                <a:solidFill>
                  <a:srgbClr val="F4F6F8"/>
                </a:solidFill>
                <a:latin typeface="Calibri"/>
              </a:rPr>
              <a:t>Visible reasoning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154680"/>
            <a:ext cx="2953512" cy="1371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9AA7B4"/>
                </a:solidFill>
                <a:latin typeface="Calibri"/>
              </a:rPr>
              <a:t>Every card shows its “why”: salary +₹15k × 2 months → ₹9k recurring surplus → SIP. Trust the black box can't earn.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25112" y="1920240"/>
            <a:ext cx="3502152" cy="2743200"/>
          </a:xfrm>
          <a:prstGeom prst="roundRect">
            <a:avLst/>
          </a:prstGeom>
          <a:solidFill>
            <a:srgbClr val="172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25112" y="1920240"/>
            <a:ext cx="3502152" cy="109728"/>
          </a:xfrm>
          <a:prstGeom prst="roundRect">
            <a:avLst/>
          </a:prstGeom>
          <a:solidFill>
            <a:srgbClr val="F2B1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9432" y="2331720"/>
            <a:ext cx="2953512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>
                <a:solidFill>
                  <a:srgbClr val="F4F6F8"/>
                </a:solidFill>
                <a:latin typeface="Calibri"/>
              </a:rPr>
              <a:t>Restraint (anti-spam)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9432" y="3154680"/>
            <a:ext cx="2953512" cy="1371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9AA7B4"/>
                </a:solidFill>
                <a:latin typeface="Calibri"/>
              </a:rPr>
              <a:t>The Orchestrator deliberately suppresses lower-value nudges. A rule engine fires on every match — an agent decides not to.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10144" y="1920240"/>
            <a:ext cx="3502152" cy="2743200"/>
          </a:xfrm>
          <a:prstGeom prst="roundRect">
            <a:avLst/>
          </a:prstGeom>
          <a:solidFill>
            <a:srgbClr val="172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010144" y="1920240"/>
            <a:ext cx="3502152" cy="109728"/>
          </a:xfrm>
          <a:prstGeom prst="roundRect">
            <a:avLst/>
          </a:prstGeom>
          <a:solidFill>
            <a:srgbClr val="9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84464" y="2331720"/>
            <a:ext cx="2953512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>
                <a:solidFill>
                  <a:srgbClr val="F4F6F8"/>
                </a:solidFill>
                <a:latin typeface="Calibri"/>
              </a:rPr>
              <a:t>Compliance by design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84464" y="3154680"/>
            <a:ext cx="2953512" cy="1371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9AA7B4"/>
                </a:solidFill>
                <a:latin typeface="Calibri"/>
              </a:rPr>
              <a:t>Suitability, consent, reversibility and audit are built in — the credibility a regulated domain demands.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029200"/>
            <a:ext cx="1088136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4F6F8"/>
                </a:solidFill>
                <a:latin typeface="Calibri"/>
              </a:rPr>
              <a:t>The money shot for judges: </a:t>
            </a:r>
            <a:r>
              <a:rPr sz="1500" b="0">
                <a:solidFill>
                  <a:srgbClr val="9AA7B4"/>
                </a:solidFill>
                <a:latin typeface="Calibri"/>
              </a:rPr>
              <a:t>watching the agents reason in real time — and the Day-27 moment where Ariagent chooses to stay silent.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9AA7B4"/>
                </a:solidFill>
                <a:latin typeface="Calibri"/>
              </a:rPr>
              <a:t>Ariagent — Proactive Agentic Banking  ·  Digital Engagement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7040" y="6419088"/>
            <a:ext cx="100584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9AA7B4"/>
                </a:solidFill>
                <a:latin typeface="Calibri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35D0BA"/>
                </a:solidFill>
                <a:latin typeface="Calibri"/>
              </a:rPr>
              <a:t>BUSINESS MODEL / COMMERCIAL POTENTIAL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F4F6F8"/>
                </a:solidFill>
                <a:latin typeface="Calibri"/>
              </a:rPr>
              <a:t>Every mode is a revenue lever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10881360" cy="841248"/>
          </a:xfrm>
          <a:prstGeom prst="roundRect">
            <a:avLst/>
          </a:prstGeom>
          <a:solidFill>
            <a:srgbClr val="172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68680" y="2093976"/>
            <a:ext cx="946403" cy="310896"/>
          </a:xfrm>
          <a:prstGeom prst="roundRect">
            <a:avLst/>
          </a:prstGeom>
          <a:noFill/>
          <a:ln w="15875">
            <a:solidFill>
              <a:srgbClr val="35D0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093976"/>
            <a:ext cx="946403" cy="310896"/>
          </a:xfrm>
          <a:prstGeom prst="rect">
            <a:avLst/>
          </a:prstGeom>
          <a:noFill/>
        </p:spPr>
        <p:txBody>
          <a:bodyPr wrap="non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35D0BA"/>
                </a:solidFill>
                <a:latin typeface="Calibri"/>
              </a:rPr>
              <a:t>PROTECT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1828800"/>
            <a:ext cx="3840480" cy="84124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1">
                <a:solidFill>
                  <a:srgbClr val="F4F6F8"/>
                </a:solidFill>
                <a:latin typeface="Calibri"/>
              </a:rPr>
              <a:t>Retention + NII + lower servicing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0" y="1828800"/>
            <a:ext cx="4297680" cy="84124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0">
                <a:solidFill>
                  <a:srgbClr val="9AA7B4"/>
                </a:solidFill>
                <a:latin typeface="Calibri"/>
              </a:rPr>
              <a:t>Buffer credit / overdraft lines · fewer NSF complaints · churn ↓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798064"/>
            <a:ext cx="10881360" cy="841248"/>
          </a:xfrm>
          <a:prstGeom prst="roundRect">
            <a:avLst/>
          </a:prstGeom>
          <a:solidFill>
            <a:srgbClr val="172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68680" y="3063240"/>
            <a:ext cx="658368" cy="310896"/>
          </a:xfrm>
          <a:prstGeom prst="roundRect">
            <a:avLst/>
          </a:prstGeom>
          <a:noFill/>
          <a:ln w="15875">
            <a:solidFill>
              <a:srgbClr val="F2B1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063240"/>
            <a:ext cx="658368" cy="310896"/>
          </a:xfrm>
          <a:prstGeom prst="rect">
            <a:avLst/>
          </a:prstGeom>
          <a:noFill/>
        </p:spPr>
        <p:txBody>
          <a:bodyPr wrap="non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F2B147"/>
                </a:solidFill>
                <a:latin typeface="Calibri"/>
              </a:rPr>
              <a:t>GROW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0" y="2798064"/>
            <a:ext cx="3840480" cy="84124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1">
                <a:solidFill>
                  <a:srgbClr val="F4F6F8"/>
                </a:solidFill>
                <a:latin typeface="Calibri"/>
              </a:rPr>
              <a:t>AUM + fee income + deposit stickiness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0" y="2798064"/>
            <a:ext cx="4297680" cy="84124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0">
                <a:solidFill>
                  <a:srgbClr val="9AA7B4"/>
                </a:solidFill>
                <a:latin typeface="Calibri"/>
              </a:rPr>
              <a:t>SIPs · mutual funds · high-yield sweeps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67328"/>
            <a:ext cx="10881360" cy="841248"/>
          </a:xfrm>
          <a:prstGeom prst="roundRect">
            <a:avLst/>
          </a:prstGeom>
          <a:solidFill>
            <a:srgbClr val="172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68680" y="4032504"/>
            <a:ext cx="754380" cy="310896"/>
          </a:xfrm>
          <a:prstGeom prst="roundRect">
            <a:avLst/>
          </a:prstGeom>
          <a:noFill/>
          <a:ln w="15875">
            <a:solidFill>
              <a:srgbClr val="9B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4032504"/>
            <a:ext cx="754380" cy="310896"/>
          </a:xfrm>
          <a:prstGeom prst="rect">
            <a:avLst/>
          </a:prstGeom>
          <a:noFill/>
        </p:spPr>
        <p:txBody>
          <a:bodyPr wrap="non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9B8CFF"/>
                </a:solidFill>
                <a:latin typeface="Calibri"/>
              </a:rPr>
              <a:t>GUIDE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3767328"/>
            <a:ext cx="3840480" cy="84124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1">
                <a:solidFill>
                  <a:srgbClr val="F4F6F8"/>
                </a:solidFill>
                <a:latin typeface="Calibri"/>
              </a:rPr>
              <a:t>Cross-sell bundles (highest ₹/event)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0" y="3767328"/>
            <a:ext cx="4297680" cy="84124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0">
                <a:solidFill>
                  <a:srgbClr val="9AA7B4"/>
                </a:solidFill>
                <a:latin typeface="Calibri"/>
              </a:rPr>
              <a:t>Insurance + investment + savings, sold at the moment of need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5029200"/>
            <a:ext cx="10881360" cy="960120"/>
          </a:xfrm>
          <a:prstGeom prst="roundRect">
            <a:avLst/>
          </a:prstGeom>
          <a:solidFill>
            <a:srgbClr val="0E141B"/>
          </a:solidFill>
          <a:ln w="16510">
            <a:solidFill>
              <a:srgbClr val="35D0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5120640"/>
            <a:ext cx="10332720" cy="8229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35D0BA"/>
                </a:solidFill>
                <a:latin typeface="Calibri"/>
              </a:rPr>
              <a:t>Platform multiplier: </a:t>
            </a:r>
            <a:r>
              <a:rPr sz="1300" b="0">
                <a:solidFill>
                  <a:srgbClr val="F4F6F8"/>
                </a:solidFill>
                <a:latin typeface="Calibri"/>
              </a:rPr>
              <a:t>the same engine powers Customer Acquisition (#1) and Digital Adoption (#2) — one architecture answers all three problem statements. Sold B2B2C to banks (per-active-user) + cost-avoidance, expanding to revenue-share.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9AA7B4"/>
                </a:solidFill>
                <a:latin typeface="Calibri"/>
              </a:rPr>
              <a:t>Ariagent — Proactive Agentic Banking  ·  Digital Engagement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7040" y="6419088"/>
            <a:ext cx="100584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9AA7B4"/>
                </a:solidFill>
                <a:latin typeface="Calibri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35D0BA"/>
                </a:solidFill>
                <a:latin typeface="Calibri"/>
              </a:rPr>
              <a:t>HOW WE MEASURE SUCCESS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F4F6F8"/>
                </a:solidFill>
                <a:latin typeface="Calibri"/>
              </a:rPr>
              <a:t>One north star, balanced against spam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5212080" cy="1280160"/>
          </a:xfrm>
          <a:prstGeom prst="roundRect">
            <a:avLst/>
          </a:prstGeom>
          <a:solidFill>
            <a:srgbClr val="172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9728" cy="1280160"/>
          </a:xfrm>
          <a:prstGeom prst="roundRect">
            <a:avLst/>
          </a:prstGeom>
          <a:solidFill>
            <a:srgbClr val="35D0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93392"/>
            <a:ext cx="475488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35D0BA"/>
                </a:solidFill>
                <a:latin typeface="Calibri"/>
              </a:rPr>
              <a:t>NORTH STAR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75488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>
                <a:solidFill>
                  <a:srgbClr val="F4F6F8"/>
                </a:solidFill>
                <a:latin typeface="Calibri"/>
              </a:rPr>
              <a:t>Proactive Actions Accepted / active user / month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1828800"/>
            <a:ext cx="5486400" cy="1280160"/>
          </a:xfrm>
          <a:prstGeom prst="roundRect">
            <a:avLst/>
          </a:prstGeom>
          <a:solidFill>
            <a:srgbClr val="172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035040" y="1828800"/>
            <a:ext cx="109728" cy="1280160"/>
          </a:xfrm>
          <a:prstGeom prst="roundRect">
            <a:avLst/>
          </a:prstGeom>
          <a:solidFill>
            <a:srgbClr val="F2B1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1993392"/>
            <a:ext cx="50292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F2B147"/>
                </a:solidFill>
                <a:latin typeface="Calibri"/>
              </a:rPr>
              <a:t>GUARDRAIL METRIC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2331720"/>
            <a:ext cx="502920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>
                <a:solidFill>
                  <a:srgbClr val="F4F6F8"/>
                </a:solidFill>
                <a:latin typeface="Calibri"/>
              </a:rPr>
              <a:t>Nudge acceptance rate ↑  &amp;  opt-out rate ↓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429000"/>
            <a:ext cx="10881360" cy="585216"/>
          </a:xfrm>
          <a:prstGeom prst="roundRect">
            <a:avLst/>
          </a:prstGeom>
          <a:solidFill>
            <a:srgbClr val="172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40080" y="3429000"/>
            <a:ext cx="91440" cy="585216"/>
          </a:xfrm>
          <a:prstGeom prst="roundRect">
            <a:avLst/>
          </a:prstGeom>
          <a:solidFill>
            <a:srgbClr val="35D0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429000"/>
            <a:ext cx="2926080" cy="58521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>
                <a:solidFill>
                  <a:srgbClr val="F4F6F8"/>
                </a:solidFill>
                <a:latin typeface="Calibri"/>
              </a:rPr>
              <a:t>PROTECT drivers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0" y="3429000"/>
            <a:ext cx="7498079" cy="58521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>
                <a:solidFill>
                  <a:srgbClr val="9AA7B4"/>
                </a:solidFill>
                <a:latin typeface="Calibri"/>
              </a:rPr>
              <a:t>overdrafts avoided · fraud caught · ₹ saved · churn ↓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142232"/>
            <a:ext cx="10881360" cy="585216"/>
          </a:xfrm>
          <a:prstGeom prst="roundRect">
            <a:avLst/>
          </a:prstGeom>
          <a:solidFill>
            <a:srgbClr val="172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0080" y="4142232"/>
            <a:ext cx="91440" cy="585216"/>
          </a:xfrm>
          <a:prstGeom prst="roundRect">
            <a:avLst/>
          </a:prstGeom>
          <a:solidFill>
            <a:srgbClr val="F2B1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142232"/>
            <a:ext cx="2926080" cy="58521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>
                <a:solidFill>
                  <a:srgbClr val="F4F6F8"/>
                </a:solidFill>
                <a:latin typeface="Calibri"/>
              </a:rPr>
              <a:t>GROW drivers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0" y="4142232"/>
            <a:ext cx="7498079" cy="58521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>
                <a:solidFill>
                  <a:srgbClr val="9AA7B4"/>
                </a:solidFill>
                <a:latin typeface="Calibri"/>
              </a:rPr>
              <a:t>surplus activated (₹ moved to productive) · SIPs started · AUM ↑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855464"/>
            <a:ext cx="10881360" cy="585216"/>
          </a:xfrm>
          <a:prstGeom prst="roundRect">
            <a:avLst/>
          </a:prstGeom>
          <a:solidFill>
            <a:srgbClr val="172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40080" y="4855464"/>
            <a:ext cx="91440" cy="585216"/>
          </a:xfrm>
          <a:prstGeom prst="roundRect">
            <a:avLst/>
          </a:prstGeom>
          <a:solidFill>
            <a:srgbClr val="9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4855464"/>
            <a:ext cx="2926080" cy="58521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>
                <a:solidFill>
                  <a:srgbClr val="F4F6F8"/>
                </a:solidFill>
                <a:latin typeface="Calibri"/>
              </a:rPr>
              <a:t>GUIDE drivers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40480" y="4855464"/>
            <a:ext cx="7498079" cy="58521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>
                <a:solidFill>
                  <a:srgbClr val="9AA7B4"/>
                </a:solidFill>
                <a:latin typeface="Calibri"/>
              </a:rPr>
              <a:t>journeys started → completed · products per journey · cross-sell ratio ↑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9AA7B4"/>
                </a:solidFill>
                <a:latin typeface="Calibri"/>
              </a:rPr>
              <a:t>Ariagent — Proactive Agentic Banking  ·  Digital Engagement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07040" y="6419088"/>
            <a:ext cx="100584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9AA7B4"/>
                </a:solidFill>
                <a:latin typeface="Calibri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35D0BA"/>
                </a:solidFill>
                <a:latin typeface="Calibri"/>
              </a:rPr>
              <a:t>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F4F6F8"/>
                </a:solidFill>
                <a:latin typeface="Calibri"/>
              </a:rPr>
              <a:t>Privacy-first, runs on no budget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83080"/>
            <a:ext cx="10881360" cy="603504"/>
          </a:xfrm>
          <a:prstGeom prst="roundRect">
            <a:avLst/>
          </a:prstGeom>
          <a:solidFill>
            <a:srgbClr val="172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91440" cy="603504"/>
          </a:xfrm>
          <a:prstGeom prst="roundRect">
            <a:avLst/>
          </a:prstGeom>
          <a:solidFill>
            <a:srgbClr val="35D0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2377440" cy="60350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F4F6F8"/>
                </a:solidFill>
                <a:latin typeface="Calibri"/>
              </a:rPr>
              <a:t>Frontend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91840" y="1783080"/>
            <a:ext cx="8046720" cy="60350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>
                <a:solidFill>
                  <a:srgbClr val="9AA7B4"/>
                </a:solidFill>
                <a:latin typeface="Calibri"/>
              </a:rPr>
              <a:t>Next.js + React + Tailwind — live dashboard: timeline, action cards, streaming reasoning traces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496312"/>
            <a:ext cx="10881360" cy="603504"/>
          </a:xfrm>
          <a:prstGeom prst="roundRect">
            <a:avLst/>
          </a:prstGeom>
          <a:solidFill>
            <a:srgbClr val="172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2496312"/>
            <a:ext cx="91440" cy="603504"/>
          </a:xfrm>
          <a:prstGeom prst="roundRect">
            <a:avLst/>
          </a:prstGeom>
          <a:solidFill>
            <a:srgbClr val="35D0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496312"/>
            <a:ext cx="2377440" cy="60350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F4F6F8"/>
                </a:solidFill>
                <a:latin typeface="Calibri"/>
              </a:rPr>
              <a:t>Backend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2496312"/>
            <a:ext cx="8046720" cy="60350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>
                <a:solidFill>
                  <a:srgbClr val="9AA7B4"/>
                </a:solidFill>
                <a:latin typeface="Calibri"/>
              </a:rPr>
              <a:t>Python FastAPI — agent pipeline, signal bus, audit log; SSE streams reasoning to the UI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209544"/>
            <a:ext cx="10881360" cy="603504"/>
          </a:xfrm>
          <a:prstGeom prst="roundRect">
            <a:avLst/>
          </a:prstGeom>
          <a:solidFill>
            <a:srgbClr val="172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40080" y="3209544"/>
            <a:ext cx="91440" cy="603504"/>
          </a:xfrm>
          <a:prstGeom prst="roundRect">
            <a:avLst/>
          </a:prstGeom>
          <a:solidFill>
            <a:srgbClr val="F2B1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209544"/>
            <a:ext cx="2377440" cy="60350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F4F6F8"/>
                </a:solidFill>
                <a:latin typeface="Calibri"/>
              </a:rPr>
              <a:t>Agent engine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3209544"/>
            <a:ext cx="8046720" cy="60350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>
                <a:solidFill>
                  <a:srgbClr val="9AA7B4"/>
                </a:solidFill>
                <a:latin typeface="Calibri"/>
              </a:rPr>
              <a:t>Ollama + Qwen2.5 (local, free, private) · provider-agnostic — one-line swap to a hosted model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922776"/>
            <a:ext cx="10881360" cy="603504"/>
          </a:xfrm>
          <a:prstGeom prst="roundRect">
            <a:avLst/>
          </a:prstGeom>
          <a:solidFill>
            <a:srgbClr val="172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0080" y="3922776"/>
            <a:ext cx="91440" cy="603504"/>
          </a:xfrm>
          <a:prstGeom prst="roundRect">
            <a:avLst/>
          </a:prstGeom>
          <a:solidFill>
            <a:srgbClr val="9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922776"/>
            <a:ext cx="2377440" cy="60350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F4F6F8"/>
                </a:solidFill>
                <a:latin typeface="Calibri"/>
              </a:rPr>
              <a:t>Data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91840" y="3922776"/>
            <a:ext cx="8046720" cy="60350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>
                <a:solidFill>
                  <a:srgbClr val="9AA7B4"/>
                </a:solidFill>
                <a:latin typeface="Calibri"/>
              </a:rPr>
              <a:t>Synthetic transaction generator (the Priya scenario) · SQLite → Postgres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36008"/>
            <a:ext cx="10881360" cy="603504"/>
          </a:xfrm>
          <a:prstGeom prst="roundRect">
            <a:avLst/>
          </a:prstGeom>
          <a:solidFill>
            <a:srgbClr val="172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40080" y="4636008"/>
            <a:ext cx="91440" cy="603504"/>
          </a:xfrm>
          <a:prstGeom prst="round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4636008"/>
            <a:ext cx="2377440" cy="60350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F4F6F8"/>
                </a:solidFill>
                <a:latin typeface="Calibri"/>
              </a:rPr>
              <a:t>Guardrails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91840" y="4636008"/>
            <a:ext cx="8046720" cy="60350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>
                <a:solidFill>
                  <a:srgbClr val="9AA7B4"/>
                </a:solidFill>
                <a:latin typeface="Calibri"/>
              </a:rPr>
              <a:t>Cross-cutting compliance: suitability · consent · reversibility · audit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40680"/>
            <a:ext cx="10881360" cy="685800"/>
          </a:xfrm>
          <a:prstGeom prst="roundRect">
            <a:avLst/>
          </a:prstGeom>
          <a:solidFill>
            <a:srgbClr val="0E141B"/>
          </a:solidFill>
          <a:ln w="16510">
            <a:solidFill>
              <a:srgbClr val="35D0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5440680"/>
            <a:ext cx="10332720" cy="6858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350" b="1">
                <a:solidFill>
                  <a:srgbClr val="35D0BA"/>
                </a:solidFill>
                <a:latin typeface="Calibri"/>
              </a:rPr>
              <a:t>Hybrid by design: </a:t>
            </a:r>
            <a:r>
              <a:rPr sz="1250" b="0">
                <a:solidFill>
                  <a:srgbClr val="F4F6F8"/>
                </a:solidFill>
                <a:latin typeface="Calibri"/>
              </a:rPr>
              <a:t>forecasting &amp; suppression thresholds run as deterministic code — the model handles language &amp; classification. Financial data never leaves the host; the same stack runs in a bank's own VPC.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9AA7B4"/>
                </a:solidFill>
                <a:latin typeface="Calibri"/>
              </a:rPr>
              <a:t>Ariagent — Proactive Agentic Banking  ·  Digital Engagement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07040" y="6419088"/>
            <a:ext cx="100584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9AA7B4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35D0BA"/>
                </a:solidFill>
                <a:latin typeface="Calibri"/>
              </a:rPr>
              <a:t>ROADMAP — EARNING AUTONOMY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F4F6F8"/>
                </a:solidFill>
                <a:latin typeface="Calibri"/>
              </a:rPr>
              <a:t>The trust ladder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78992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>
                <a:solidFill>
                  <a:srgbClr val="9AA7B4"/>
                </a:solidFill>
                <a:latin typeface="Calibri"/>
              </a:rPr>
              <a:t>Autonomy in a regulated domain is earned in stages, not switched 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240280"/>
            <a:ext cx="10881360" cy="1097280"/>
          </a:xfrm>
          <a:prstGeom prst="roundRect">
            <a:avLst/>
          </a:prstGeom>
          <a:solidFill>
            <a:srgbClr val="172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2240280"/>
            <a:ext cx="128016" cy="1097280"/>
          </a:xfrm>
          <a:prstGeom prst="roundRect">
            <a:avLst/>
          </a:prstGeom>
          <a:solidFill>
            <a:srgbClr val="35D0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423160"/>
            <a:ext cx="67665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>
                <a:solidFill>
                  <a:srgbClr val="F4F6F8"/>
                </a:solidFill>
                <a:latin typeface="Calibri"/>
              </a:rPr>
              <a:t>TIER 1 — Suggest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843784"/>
            <a:ext cx="804672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9AA7B4"/>
                </a:solidFill>
                <a:latin typeface="Calibri"/>
              </a:rPr>
              <a:t>Ariagent recommends; you approve in one tap.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966960" y="2642616"/>
            <a:ext cx="1426464" cy="310896"/>
          </a:xfrm>
          <a:prstGeom prst="roundRect">
            <a:avLst/>
          </a:prstGeom>
          <a:noFill/>
          <a:ln w="15875">
            <a:solidFill>
              <a:srgbClr val="35D0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966960" y="2642616"/>
            <a:ext cx="1426464" cy="310896"/>
          </a:xfrm>
          <a:prstGeom prst="rect">
            <a:avLst/>
          </a:prstGeom>
          <a:noFill/>
        </p:spPr>
        <p:txBody>
          <a:bodyPr wrap="non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35D0BA"/>
                </a:solidFill>
                <a:latin typeface="Calibri"/>
              </a:rPr>
              <a:t>Today's demo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502152"/>
            <a:ext cx="10881360" cy="1097280"/>
          </a:xfrm>
          <a:prstGeom prst="roundRect">
            <a:avLst/>
          </a:prstGeom>
          <a:solidFill>
            <a:srgbClr val="172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0080" y="3502152"/>
            <a:ext cx="128016" cy="1097280"/>
          </a:xfrm>
          <a:prstGeom prst="roundRect">
            <a:avLst/>
          </a:prstGeom>
          <a:solidFill>
            <a:srgbClr val="F2B1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3685032"/>
            <a:ext cx="67665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>
                <a:solidFill>
                  <a:srgbClr val="F4F6F8"/>
                </a:solidFill>
                <a:latin typeface="Calibri"/>
              </a:rPr>
              <a:t>TIER 2 — Standing rules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105656"/>
            <a:ext cx="804672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9AA7B4"/>
                </a:solidFill>
                <a:latin typeface="Calibri"/>
              </a:rPr>
              <a:t>Pre-authorise a class of action within limits (“always shift my debit if I'd overdraft”).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966960" y="3904488"/>
            <a:ext cx="658368" cy="310896"/>
          </a:xfrm>
          <a:prstGeom prst="roundRect">
            <a:avLst/>
          </a:prstGeom>
          <a:noFill/>
          <a:ln w="15875">
            <a:solidFill>
              <a:srgbClr val="F2B1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966960" y="3904488"/>
            <a:ext cx="658368" cy="310896"/>
          </a:xfrm>
          <a:prstGeom prst="rect">
            <a:avLst/>
          </a:prstGeom>
          <a:noFill/>
        </p:spPr>
        <p:txBody>
          <a:bodyPr wrap="non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F2B147"/>
                </a:solidFill>
                <a:latin typeface="Calibri"/>
              </a:rPr>
              <a:t>Next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764024"/>
            <a:ext cx="10881360" cy="1097280"/>
          </a:xfrm>
          <a:prstGeom prst="roundRect">
            <a:avLst/>
          </a:prstGeom>
          <a:solidFill>
            <a:srgbClr val="172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0080" y="4764024"/>
            <a:ext cx="128016" cy="1097280"/>
          </a:xfrm>
          <a:prstGeom prst="roundRect">
            <a:avLst/>
          </a:prstGeom>
          <a:solidFill>
            <a:srgbClr val="9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4946904"/>
            <a:ext cx="67665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>
                <a:solidFill>
                  <a:srgbClr val="F4F6F8"/>
                </a:solidFill>
                <a:latin typeface="Calibri"/>
              </a:rPr>
              <a:t>TIER 3 — Pulse (autopilot)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5367528"/>
            <a:ext cx="804672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9AA7B4"/>
                </a:solidFill>
                <a:latin typeface="Calibri"/>
              </a:rPr>
              <a:t>Full delegation; Ariagent manages idle money continuously + a weekly “what I did &amp; why” explainer.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966960" y="5166360"/>
            <a:ext cx="850392" cy="310896"/>
          </a:xfrm>
          <a:prstGeom prst="roundRect">
            <a:avLst/>
          </a:prstGeom>
          <a:noFill/>
          <a:ln w="15875">
            <a:solidFill>
              <a:srgbClr val="9B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966960" y="5166360"/>
            <a:ext cx="850392" cy="310896"/>
          </a:xfrm>
          <a:prstGeom prst="rect">
            <a:avLst/>
          </a:prstGeom>
          <a:noFill/>
        </p:spPr>
        <p:txBody>
          <a:bodyPr wrap="non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9B8CFF"/>
                </a:solidFill>
                <a:latin typeface="Calibri"/>
              </a:rPr>
              <a:t>Vision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9AA7B4"/>
                </a:solidFill>
                <a:latin typeface="Calibri"/>
              </a:rPr>
              <a:t>Ariagent — Proactive Agentic Banking  ·  Digital Engagement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7040" y="6419088"/>
            <a:ext cx="100584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9AA7B4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5D0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35D0BA"/>
                </a:solidFill>
                <a:latin typeface="Calibri"/>
              </a:rPr>
              <a:t>ARIAGENT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65960"/>
            <a:ext cx="10972800" cy="18288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3000"/>
              </a:lnSpc>
              <a:spcAft>
                <a:spcPts val="200"/>
              </a:spcAft>
            </a:pPr>
            <a:r>
              <a:rPr sz="3800" b="1">
                <a:solidFill>
                  <a:srgbClr val="F4F6F8"/>
                </a:solidFill>
                <a:latin typeface="Calibri"/>
              </a:rPr>
              <a:t>Engagement becomes something the</a:t>
            </a:r>
          </a:p>
          <a:p>
            <a:pPr algn="l">
              <a:lnSpc>
                <a:spcPct val="103000"/>
              </a:lnSpc>
              <a:spcAft>
                <a:spcPts val="200"/>
              </a:spcAft>
            </a:pPr>
            <a:r>
              <a:rPr sz="3800" b="1">
                <a:solidFill>
                  <a:srgbClr val="F4F6F8"/>
                </a:solidFill>
                <a:latin typeface="Calibri"/>
              </a:rPr>
              <a:t>bank </a:t>
            </a:r>
            <a:r>
              <a:rPr sz="3800" b="1">
                <a:solidFill>
                  <a:srgbClr val="35D0BA"/>
                </a:solidFill>
                <a:latin typeface="Calibri"/>
              </a:rPr>
              <a:t>does for</a:t>
            </a:r>
            <a:r>
              <a:rPr sz="3800" b="1">
                <a:solidFill>
                  <a:srgbClr val="F4F6F8"/>
                </a:solidFill>
                <a:latin typeface="Calibri"/>
              </a:rPr>
              <a:t> the customer —</a:t>
            </a:r>
          </a:p>
          <a:p>
            <a:pPr algn="l">
              <a:lnSpc>
                <a:spcPct val="103000"/>
              </a:lnSpc>
              <a:spcAft>
                <a:spcPts val="200"/>
              </a:spcAft>
            </a:pPr>
            <a:r>
              <a:rPr sz="3800" b="1">
                <a:solidFill>
                  <a:srgbClr val="F4F6F8"/>
                </a:solidFill>
                <a:latin typeface="Calibri"/>
              </a:rPr>
              <a:t>not something it sells.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297680"/>
            <a:ext cx="1078992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9AA7B4"/>
                </a:solidFill>
                <a:latin typeface="Calibri"/>
              </a:rPr>
              <a:t>Protects, Grows, and Guides on one agent engine · suggests today, earns autopilot tomorrow · proves its trustworthiness by showing its reasoning on every action.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440680"/>
            <a:ext cx="10881360" cy="17780"/>
          </a:xfrm>
          <a:prstGeom prst="rect">
            <a:avLst/>
          </a:prstGeom>
          <a:solidFill>
            <a:srgbClr val="2A36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5669280"/>
            <a:ext cx="946403" cy="310896"/>
          </a:xfrm>
          <a:prstGeom prst="roundRect">
            <a:avLst/>
          </a:prstGeom>
          <a:noFill/>
          <a:ln w="15875">
            <a:solidFill>
              <a:srgbClr val="35D0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5669280"/>
            <a:ext cx="946403" cy="310896"/>
          </a:xfrm>
          <a:prstGeom prst="rect">
            <a:avLst/>
          </a:prstGeom>
          <a:noFill/>
        </p:spPr>
        <p:txBody>
          <a:bodyPr wrap="non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35D0BA"/>
                </a:solidFill>
                <a:latin typeface="Calibri"/>
              </a:rPr>
              <a:t>PROTECT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723643" y="5669280"/>
            <a:ext cx="658368" cy="310896"/>
          </a:xfrm>
          <a:prstGeom prst="roundRect">
            <a:avLst/>
          </a:prstGeom>
          <a:noFill/>
          <a:ln w="15875">
            <a:solidFill>
              <a:srgbClr val="F2B1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23643" y="5669280"/>
            <a:ext cx="658368" cy="310896"/>
          </a:xfrm>
          <a:prstGeom prst="rect">
            <a:avLst/>
          </a:prstGeom>
          <a:noFill/>
        </p:spPr>
        <p:txBody>
          <a:bodyPr wrap="non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F2B147"/>
                </a:solidFill>
                <a:latin typeface="Calibri"/>
              </a:rPr>
              <a:t>GROW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19171" y="5669280"/>
            <a:ext cx="754380" cy="310896"/>
          </a:xfrm>
          <a:prstGeom prst="roundRect">
            <a:avLst/>
          </a:prstGeom>
          <a:noFill/>
          <a:ln w="15875">
            <a:solidFill>
              <a:srgbClr val="9B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19171" y="5669280"/>
            <a:ext cx="754380" cy="310896"/>
          </a:xfrm>
          <a:prstGeom prst="rect">
            <a:avLst/>
          </a:prstGeom>
          <a:noFill/>
        </p:spPr>
        <p:txBody>
          <a:bodyPr wrap="non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9B8CFF"/>
                </a:solidFill>
                <a:latin typeface="Calibri"/>
              </a:rPr>
              <a:t>GUIDE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5669280"/>
            <a:ext cx="301752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9AA7B4"/>
                </a:solidFill>
                <a:latin typeface="Calibri"/>
              </a:rPr>
              <a:t>Digital Engagement · #3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